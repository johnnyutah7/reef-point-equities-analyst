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rpc-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077870" y="2606040"/>
            <a:ext cx="6035040" cy="1958035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02920" y="6263640"/>
            <a:ext cx="111556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100">
                <a:solidFill>
                  <a:srgbClr val="6B7280"/>
                </a:solidFill>
                <a:latin typeface="Calibri"/>
              </a:rPr>
              <a:t>TICKER  ·  DATE  ·  Draft view — not investment advice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rpc-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646920" y="201168"/>
            <a:ext cx="2057400" cy="667512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502920" y="658368"/>
            <a:ext cx="11183112" cy="9144"/>
          </a:xfrm>
          <a:prstGeom prst="rect">
            <a:avLst/>
          </a:prstGeom>
          <a:solidFill>
            <a:srgbClr val="0A0A0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749808"/>
            <a:ext cx="1115568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800" b="1">
                <a:solidFill>
                  <a:srgbClr val="0A0A0A"/>
                </a:solidFill>
                <a:latin typeface="Calibri"/>
              </a:rPr>
              <a:t>Takeaway — one sentence, sourced.</a:t>
            </a:r>
          </a:p>
        </p:txBody>
      </p:sp>
      <p:sp>
        <p:nvSpPr>
          <p:cNvPr id="6" name="Rectangle 5"/>
          <p:cNvSpPr/>
          <p:nvPr/>
        </p:nvSpPr>
        <p:spPr>
          <a:xfrm>
            <a:off x="502920" y="6510528"/>
            <a:ext cx="11183112" cy="7315"/>
          </a:xfrm>
          <a:prstGeom prst="rect">
            <a:avLst/>
          </a:prstGeom>
          <a:solidFill>
            <a:srgbClr val="0A0A0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547104"/>
            <a:ext cx="182880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6B7280"/>
                </a:solidFill>
                <a:latin typeface="Calibri"/>
              </a:rPr>
              <a:t>02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0" y="6547104"/>
            <a:ext cx="667512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6B7280"/>
                </a:solidFill>
                <a:latin typeface="Calibri"/>
              </a:rPr>
              <a:t>Proprietary &amp; Confidential  ·  Copyright © 2026. All rights reserved.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1325880"/>
            <a:ext cx="11155680" cy="4937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600">
                <a:solidFill>
                  <a:srgbClr val="0A0A0A"/>
                </a:solidFill>
                <a:latin typeface="Calibri"/>
              </a:rPr>
              <a:t>Interior body. Tables over paragraphs. Numbers only from the official memo / Sheets named ranges.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